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here. 'This is the number our app gives students. Nobody had ever checked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stakes before method. The score is used to judge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claims. Each gets measured later — problems 1 and 2 in chapter 7, problem 3 by the household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Q1. The credibility move: prove you can reproduce the app before criticising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piecewise derivative is the whole finding in one symbol.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∂S/∂xᵢ = −40·θᵢ — the ranking is fixed by the constants, identical for every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small — zero. Both students are told their effort is worthless by a system working as designed.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Q2. The grid factor moves ±15% between NEA reports — that is the world, not our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Q3. Show you chose the tool rather than copied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Q4. Most likely question from the maths supervisor — answer it before it is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independent methods agreeing is the most persuasive structure in applied maths.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single beat. Give it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Q5. Say plainly there was no data. Then say what synthetic can and cannot establish.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 for two seconds. This is the climax.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Q6. The single table the supervisor will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turn is what makes the fix small instead of a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Emission factors, footprint, questions all unchanged. Only the final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decisive row is ranking. A score that ties hundreds of students fails at its only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Transition: 'Let me show you the same research as a tool you can use.'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defaults reproduce 41 exactly — the app is verified against the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only have two minutes, do THIS slide live and skip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here is read from key_results.json, not typed into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convergence slider is the best teaching moment in the app — 1/√N made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place to hand the laptop over and let them 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Q7. Nothing reaches a student until it has been checked against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Reassures the hackathon team: this is an extension, not a repudiation.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recap slide. Three branches, one question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Volunteering weaknesses is strategy, not modesty.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pull-quote.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42415"/>
            <a:ext cx="960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B0C8"/>
                </a:solidFill>
                <a:latin typeface="Calibri"/>
              </a:rPr>
              <a:t>HARIT PATHSALA  —  हरित पाठशाला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6070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 i="0">
                <a:solidFill>
                  <a:srgbClr val="FFFFFF"/>
                </a:solidFill>
                <a:latin typeface="Calibri"/>
              </a:rPr>
              <a:t>Can We Trust</a:t>
            </a:r>
          </a:p>
          <a:p>
            <a:pPr algn="l">
              <a:lnSpc>
                <a:spcPct val="102000"/>
              </a:lnSpc>
            </a:pPr>
            <a:r>
              <a:rPr sz="5800" b="1" i="0">
                <a:solidFill>
                  <a:srgbClr val="FFFFFF"/>
                </a:solidFill>
                <a:latin typeface="Calibri"/>
              </a:rPr>
              <a:t>the Eco-Score?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9AA6B0"/>
                </a:solidFill>
                <a:latin typeface="Calibri"/>
              </a:rPr>
              <a:t>A mathematical audit of the number we show students — and why 9.19% of a school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9AA6B0"/>
                </a:solidFill>
                <a:latin typeface="Calibri"/>
              </a:rPr>
              <a:t>was being told their effort was worth nothing.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532120"/>
            <a:ext cx="1463040" cy="27432"/>
          </a:xfrm>
          <a:prstGeom prst="rect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150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Jayed Alam Mansur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B.Tech Artificial Intelligence, Year 3 · Kathmandu University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Supervised by [Mathematics Teacher] · Sandesh Thakuri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1 · WHERE THIS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One number, used to judge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Harit Pathsala began at the Nepal Climate Hackathon 2025. A student answers five questions about daily life — commute, home electricity, cooking gas, waste, stationery — and receives one number out of 100.</a:t>
            </a:r>
          </a:p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Teachers show it to students. Students compare it with each other. A dashboard averages it across a 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480560"/>
            <a:ext cx="6035040" cy="1371600"/>
          </a:xfrm>
          <a:prstGeom prst="roundRect">
            <a:avLst>
              <a:gd name="adj" fmla="val 4500"/>
            </a:avLst>
          </a:prstGeom>
          <a:solidFill>
            <a:srgbClr val="2A220B"/>
          </a:solidFill>
          <a:ln w="190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45152"/>
            <a:ext cx="5577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1">
                <a:solidFill>
                  <a:srgbClr val="FFFFFF"/>
                </a:solidFill>
                <a:latin typeface="Calibri"/>
              </a:rPr>
              <a:t>"The number stopped being a readout and started</a:t>
            </a:r>
          </a:p>
          <a:p>
            <a:pPr algn="l">
              <a:lnSpc>
                <a:spcPct val="125000"/>
              </a:lnSpc>
            </a:pPr>
            <a:r>
              <a:rPr sz="1700" b="1" i="1">
                <a:solidFill>
                  <a:srgbClr val="FFFFFF"/>
                </a:solidFill>
                <a:latin typeface="Calibri"/>
              </a:rPr>
              <a:t>being a judgement."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783080"/>
            <a:ext cx="3017520" cy="4160520"/>
          </a:xfrm>
          <a:prstGeom prst="roundRect">
            <a:avLst>
              <a:gd name="adj" fmla="val 4500"/>
            </a:avLst>
          </a:prstGeom>
          <a:solidFill>
            <a:srgbClr val="050B11"/>
          </a:solidFill>
          <a:ln w="15875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92440" y="2057400"/>
            <a:ext cx="2560320" cy="3611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2402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B7782"/>
                </a:solidFill>
                <a:latin typeface="Calibri"/>
              </a:rPr>
              <a:t>YOUR ECO-SCORE</a:t>
            </a:r>
          </a:p>
        </p:txBody>
      </p:sp>
      <p:sp>
        <p:nvSpPr>
          <p:cNvPr id="11" name="Donut 10"/>
          <p:cNvSpPr/>
          <p:nvPr/>
        </p:nvSpPr>
        <p:spPr>
          <a:xfrm>
            <a:off x="8851392" y="2606040"/>
            <a:ext cx="1051560" cy="1051560"/>
          </a:xfrm>
          <a:prstGeom prst="donut">
            <a:avLst>
              <a:gd name="adj" fmla="val 14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2907792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0F1923"/>
                </a:solidFill>
                <a:latin typeface="Calibri"/>
              </a:rPr>
              <a:t>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8404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4A5662"/>
                </a:solidFill>
                <a:latin typeface="Calibri"/>
              </a:rPr>
              <a:t>1.976 kg CO₂ / day</a:t>
            </a:r>
          </a:p>
        </p:txBody>
      </p:sp>
      <p:sp>
        <p:nvSpPr>
          <p:cNvPr id="14" name="Oval 13"/>
          <p:cNvSpPr/>
          <p:nvPr/>
        </p:nvSpPr>
        <p:spPr>
          <a:xfrm>
            <a:off x="8549640" y="4315968"/>
            <a:ext cx="155448" cy="155448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42248" y="4315968"/>
            <a:ext cx="155448" cy="1554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34856" y="4315968"/>
            <a:ext cx="155448" cy="15544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27464" y="4315968"/>
            <a:ext cx="155448" cy="155448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20072" y="4315968"/>
            <a:ext cx="155448" cy="155448"/>
          </a:xfrm>
          <a:prstGeom prst="ellipse">
            <a:avLst/>
          </a:prstGeom>
          <a:solidFill>
            <a:srgbClr val="AE9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480060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8A96A2"/>
                </a:solidFill>
                <a:latin typeface="Calibri"/>
              </a:rPr>
              <a:t>bus · 2 km · 90 kWh</a:t>
            </a:r>
          </a:p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8A96A2"/>
                </a:solidFill>
                <a:latin typeface="Calibri"/>
              </a:rPr>
              <a:t>1 cylinder · 0.6 kg · Rs 200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2 · THREE PROBLEMS HIDDEN INSIDE THE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Visible from the shape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AA6B0"/>
                </a:solidFill>
                <a:latin typeface="Calibri"/>
              </a:rPr>
              <a:t>The rule is a straight line between two chosen boundaries: 0.5 kg/day scores 100, 3.0 scores 0, everything outside is clamped.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3401568" cy="283464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14600"/>
            <a:ext cx="3401568" cy="50292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4444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3756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 floor that swallows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6908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Above 3.0 kg/day everyone scores 0 — the student just over the line and the heaviest emitter in the school, reported identically.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514600"/>
            <a:ext cx="3401568" cy="283464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2514600"/>
            <a:ext cx="3401568" cy="502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7432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D7D31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33756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 ceiling nobody reaches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406908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The top of the scale is unreachable in practice, so the reward end of the range is wasted and the score can never say "excellent".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82712" y="2514600"/>
            <a:ext cx="3401568" cy="283464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82712" y="2514600"/>
            <a:ext cx="3401568" cy="50292"/>
          </a:xfrm>
          <a:prstGeom prst="rect">
            <a:avLst/>
          </a:prstGeom>
          <a:solidFill>
            <a:srgbClr val="AE9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27432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AE97A0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333756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Boundaries from the wrong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406908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0.5 and 3.0 were chosen a priori, not derived from what these emission factors actually produce on a Nepali household.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3 · BUILDING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Five activities, five constants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47672"/>
            <a:ext cx="45720" cy="4572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Transport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87451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472C4"/>
                </a:solidFill>
                <a:latin typeface="Consolas"/>
              </a:rPr>
              <a:t>0.016 / 0.066 / 0.19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920239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kg CO₂ per 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901951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fuel ÷ efficiency ÷ passengers · bus splits its fuel 40 ways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69464"/>
            <a:ext cx="45720" cy="457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9631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Electricity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4963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D7D31"/>
                </a:solidFill>
                <a:latin typeface="Consolas"/>
              </a:rPr>
              <a:t>0.23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54203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kg CO₂ per kWh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523744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Nepal grid ≈ 82% hydro / 18% thermal · NEA 2022/23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191256"/>
            <a:ext cx="4572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11810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11810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C000"/>
                </a:solidFill>
                <a:latin typeface="Consolas"/>
              </a:rPr>
              <a:t>21.442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16382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kg CO₂ per cylinder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145536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14.2 kg × 1.51 · IPCC 2006 (carbon × 44/12)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813048"/>
            <a:ext cx="45720" cy="4572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73989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Waste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73989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0AD47"/>
                </a:solidFill>
                <a:latin typeface="Consolas"/>
              </a:rPr>
              <a:t>0.827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785615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kg CO₂e per 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6732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landfill decomposition to CH₄ + CO₂ · IPCC 2006 Vol.5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434840"/>
            <a:ext cx="45720" cy="457200"/>
          </a:xfrm>
          <a:prstGeom prst="rect">
            <a:avLst/>
          </a:prstGeom>
          <a:solidFill>
            <a:srgbClr val="AE9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36168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Stationery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436168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AE97A0"/>
                </a:solidFill>
                <a:latin typeface="Consolas"/>
              </a:rPr>
              <a:t>0.001728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407407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kg CO₂e per NPR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3891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spend-based supply chain · GHG Protocol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138928"/>
            <a:ext cx="10607040" cy="868680"/>
          </a:xfrm>
          <a:prstGeom prst="roundRect">
            <a:avLst>
              <a:gd name="adj" fmla="val 4500"/>
            </a:avLst>
          </a:prstGeom>
          <a:solidFill>
            <a:srgbClr val="0B2B33"/>
          </a:solidFill>
          <a:ln w="19050">
            <a:solidFill>
              <a:srgbClr val="00B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138928"/>
            <a:ext cx="54864" cy="868680"/>
          </a:xfrm>
          <a:prstGeom prst="rect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1" y="5239512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B0C8"/>
                </a:solidFill>
                <a:latin typeface="Calibri"/>
              </a:rPr>
              <a:t>TEACHER'S QUESTION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" y="5522976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1">
                <a:solidFill>
                  <a:srgbClr val="FFFFFF"/>
                </a:solidFill>
                <a:latin typeface="Calibri"/>
              </a:rPr>
              <a:t>What were the fixed constants for each activity?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14476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Not one was fitted or tuned. They come from the organiser's Emission_factors.xlsx, and the notebook re-derives the worked example from them on every run — halting if any disagrees.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3 · THE MODEL IN TWO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 linear sum, then a clamp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07040" cy="1051560"/>
          </a:xfrm>
          <a:prstGeom prst="roundRect">
            <a:avLst>
              <a:gd name="adj" fmla="val 4500"/>
            </a:avLst>
          </a:prstGeom>
          <a:solidFill>
            <a:srgbClr val="0B141C"/>
          </a:solidFill>
          <a:ln w="15875">
            <a:solidFill>
              <a:srgbClr val="2A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Consolas"/>
              </a:rPr>
              <a:t>F  =  Σ θᵢ xᵢ      (i = 1 …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6B0"/>
                </a:solidFill>
                <a:latin typeface="Calibri"/>
              </a:rPr>
              <a:t>Linear in the activities → every derivative is a constant.   Linear in the factors → uncertainty propagates exactly.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10607040" cy="1691640"/>
          </a:xfrm>
          <a:prstGeom prst="roundRect">
            <a:avLst>
              <a:gd name="adj" fmla="val 4500"/>
            </a:avLst>
          </a:prstGeom>
          <a:solidFill>
            <a:srgbClr val="0B141C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FFFFFF"/>
                </a:solidFill>
                <a:latin typeface="Consolas"/>
              </a:rPr>
              <a:t>S(F)  =  clamp( 0, 100, 100 − ((F − 0.5) / 2.5) × 100 )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26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F4444"/>
                </a:solidFill>
                <a:latin typeface="Consolas"/>
              </a:rPr>
              <a:t>dS/dF  =  −40      for  0.5 ≤ F ≤ 3.0        ← the score responds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F4444"/>
                </a:solidFill>
                <a:latin typeface="Consolas"/>
              </a:rPr>
              <a:t>dS/dF  =    0      otherwise                 ← the score is deaf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C000"/>
                </a:solidFill>
                <a:latin typeface="Calibri"/>
              </a:rPr>
              <a:t>That second line is the entire subject of this research.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5 · WHICH HABIT ACTUALLY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Cooking moves the score 62× more than stationery</a:t>
            </a:r>
          </a:p>
        </p:txBody>
      </p:sp>
      <p:pic>
        <p:nvPicPr>
          <p:cNvPr id="5" name="Picture 4" descr="03_tornado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88464"/>
            <a:ext cx="5577839" cy="30810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9659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Cooking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6596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C000"/>
                </a:solidFill>
                <a:latin typeface="Consolas"/>
              </a:rPr>
              <a:t>-2.859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Electricity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688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D7D31"/>
                </a:solidFill>
                <a:latin typeface="Consolas"/>
              </a:rPr>
              <a:t>-2.76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Waste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718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0AD47"/>
                </a:solidFill>
                <a:latin typeface="Consolas"/>
              </a:rPr>
              <a:t>-1.985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Transport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4747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472C4"/>
                </a:solidFill>
                <a:latin typeface="Consolas"/>
              </a:rPr>
              <a:t>-0.256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Stationery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977639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AE97A0"/>
                </a:solidFill>
                <a:latin typeface="Consolas"/>
              </a:rPr>
              <a:t>-0.046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score points per +10% in that habit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120640"/>
            <a:ext cx="4937760" cy="1143000"/>
          </a:xfrm>
          <a:prstGeom prst="roundRect">
            <a:avLst>
              <a:gd name="adj" fmla="val 4500"/>
            </a:avLst>
          </a:prstGeom>
          <a:solidFill>
            <a:srgbClr val="2A220B"/>
          </a:solidFill>
          <a:ln w="190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0352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 student could stop buying notebooks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for a whole year and move less than a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5 · THE STUDENTS THE SCORE CANNOT HEAR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 a dead zone, every derivative is exactly zero</a:t>
            </a:r>
          </a:p>
        </p:txBody>
      </p:sp>
      <p:pic>
        <p:nvPicPr>
          <p:cNvPr id="5" name="Picture 4" descr="04_elastic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887" y="1783080"/>
            <a:ext cx="6503745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4709160"/>
            <a:ext cx="5230368" cy="160020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709160"/>
            <a:ext cx="45720" cy="16002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48920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0AD47"/>
                </a:solidFill>
                <a:latin typeface="Calibri"/>
              </a:rPr>
              <a:t>Very low footprint — 0.30 kg CO₂/day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5303520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Walks, rooftop solar, minimal gas. Scores 100. Halve it again and it is still 100 — and the app cannot tell them apart from someone at three times their emissions.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4709160"/>
            <a:ext cx="5230368" cy="160020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4709160"/>
            <a:ext cx="45720" cy="1600200"/>
          </a:xfrm>
          <a:prstGeom prst="rect">
            <a:avLst/>
          </a:prstGeom>
          <a:solidFill>
            <a:srgbClr val="F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48920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4444"/>
                </a:solidFill>
                <a:latin typeface="Calibri"/>
              </a:rPr>
              <a:t>Very high footprint — 4.22 kg CO₂/day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5303520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Car, high electricity, heavy cooking and waste. Scores 0. Halve their waste tomorrow and the score changes by 0.000 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4 · FROM FORMULA TO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constants are estimates, not 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07040" cy="868680"/>
          </a:xfrm>
          <a:prstGeom prst="roundRect">
            <a:avLst>
              <a:gd name="adj" fmla="val 4500"/>
            </a:avLst>
          </a:prstGeom>
          <a:solidFill>
            <a:srgbClr val="0B2B33"/>
          </a:solidFill>
          <a:ln w="19050">
            <a:solidFill>
              <a:srgbClr val="00B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4864" cy="868680"/>
          </a:xfrm>
          <a:prstGeom prst="rect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883664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B0C8"/>
                </a:solidFill>
                <a:latin typeface="Calibri"/>
              </a:rPr>
              <a:t>TEACHER'S QUESTION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167128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1">
                <a:solidFill>
                  <a:srgbClr val="FFFFFF"/>
                </a:solidFill>
                <a:latin typeface="Calibri"/>
              </a:rPr>
              <a:t>Which model was used before? Why Monte Carlo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5029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9AA6B0"/>
                </a:solidFill>
                <a:latin typeface="Calibri"/>
              </a:rPr>
              <a:t>BEFORE — deterministic</a:t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9AA6B0"/>
                </a:solidFill>
                <a:latin typeface="Calibri"/>
              </a:rPr>
              <a:t>Five answers in, five constants treated as exact, one score out. Run it a thousand times, get the same score a thousand times. No notion that it could have been different.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834640"/>
            <a:ext cx="5029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NOW — each constant is a random variable</a:t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Normal(published value, its real spread), clipped positive. The question changes from "what is the score" to "how well do we know the score".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834640"/>
            <a:ext cx="18288" cy="1645920"/>
          </a:xfrm>
          <a:prstGeom prst="rect">
            <a:avLst/>
          </a:prstGeom>
          <a:solidFill>
            <a:srgbClr val="2A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4846320"/>
            <a:ext cx="2048256" cy="123444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846320"/>
            <a:ext cx="2048256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74920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ED7D31"/>
                </a:solidFill>
                <a:latin typeface="Calibri"/>
              </a:rPr>
              <a:t>±15%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5321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6B0"/>
                </a:solidFill>
                <a:latin typeface="Calibri"/>
              </a:rPr>
              <a:t>Grid electricity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4846320"/>
            <a:ext cx="2048256" cy="123444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35224" y="4846320"/>
            <a:ext cx="2048256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18104" y="5074920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70AD47"/>
                </a:solidFill>
                <a:latin typeface="Calibri"/>
              </a:rPr>
              <a:t>±20%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55321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6B0"/>
                </a:solidFill>
                <a:latin typeface="Calibri"/>
              </a:rPr>
              <a:t>Waste composition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93208" y="4846320"/>
            <a:ext cx="2048256" cy="123444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93208" y="4846320"/>
            <a:ext cx="2048256" cy="45720"/>
          </a:xfrm>
          <a:prstGeom prst="rect">
            <a:avLst/>
          </a:prstGeom>
          <a:solidFill>
            <a:srgbClr val="AE9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088" y="5074920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AE97A0"/>
                </a:solidFill>
                <a:latin typeface="Calibri"/>
              </a:rPr>
              <a:t>±25%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55321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6B0"/>
                </a:solidFill>
                <a:latin typeface="Calibri"/>
              </a:rPr>
              <a:t>Stationery supply chain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51192" y="4846320"/>
            <a:ext cx="2048256" cy="123444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51192" y="4846320"/>
            <a:ext cx="2048256" cy="45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34071" y="5074920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4472C4"/>
                </a:solidFill>
                <a:latin typeface="Calibri"/>
              </a:rPr>
              <a:t>±10%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1" y="55321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6B0"/>
                </a:solidFill>
                <a:latin typeface="Calibri"/>
              </a:rPr>
              <a:t>Bus passenger load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09176" y="4846320"/>
            <a:ext cx="2048256" cy="123444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09176" y="4846320"/>
            <a:ext cx="2048256" cy="457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92055" y="5074920"/>
            <a:ext cx="1737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C000"/>
                </a:solidFill>
                <a:latin typeface="Calibri"/>
              </a:rPr>
              <a:t>±5%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2055" y="553212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6B0"/>
                </a:solidFill>
                <a:latin typeface="Calibri"/>
              </a:rPr>
              <a:t>LPG fill weight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4 · ALTERNATIVES CONSIDERED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Why not one of these instead?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07040" cy="868680"/>
          </a:xfrm>
          <a:prstGeom prst="roundRect">
            <a:avLst>
              <a:gd name="adj" fmla="val 4500"/>
            </a:avLst>
          </a:prstGeom>
          <a:solidFill>
            <a:srgbClr val="0B2B33"/>
          </a:solidFill>
          <a:ln w="19050">
            <a:solidFill>
              <a:srgbClr val="00B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54864" cy="868680"/>
          </a:xfrm>
          <a:prstGeom prst="rect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837943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B0C8"/>
                </a:solidFill>
                <a:latin typeface="Calibri"/>
              </a:rPr>
              <a:t>TEACHER'S QUESTION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121408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1">
                <a:solidFill>
                  <a:srgbClr val="FFFFFF"/>
                </a:solidFill>
                <a:latin typeface="Calibri"/>
              </a:rPr>
              <a:t>What other methods could we have used?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935224"/>
            <a:ext cx="25968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AA6B0"/>
                </a:solidFill>
                <a:latin typeface="Calibri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2935224"/>
            <a:ext cx="140817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AA6B0"/>
                </a:solidFill>
                <a:latin typeface="Calibri"/>
              </a:rPr>
              <a:t>VERDICT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2935224"/>
            <a:ext cx="61630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AA6B0"/>
                </a:solidFill>
                <a:latin typeface="Calibri"/>
              </a:rPr>
              <a:t>REASON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20440"/>
            <a:ext cx="10607040" cy="16459"/>
          </a:xfrm>
          <a:prstGeom prst="rect">
            <a:avLst/>
          </a:prstGeom>
          <a:solidFill>
            <a:srgbClr val="2A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593592"/>
            <a:ext cx="25968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Interval arithmetic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593592"/>
            <a:ext cx="140817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4444"/>
                </a:solidFill>
                <a:latin typeface="Calibri"/>
              </a:rPr>
              <a:t>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3593592"/>
            <a:ext cx="61630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Worst-case bounds assume every factor is wrong in the same direction at once — too pessimistic to 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97096"/>
            <a:ext cx="10607040" cy="658368"/>
          </a:xfrm>
          <a:prstGeom prst="roundRect">
            <a:avLst>
              <a:gd name="adj" fmla="val 4500"/>
            </a:avLst>
          </a:prstGeom>
          <a:solidFill>
            <a:srgbClr val="14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251959"/>
            <a:ext cx="25968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Latin hypercube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4251959"/>
            <a:ext cx="140817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AA6B0"/>
                </a:solidFill>
                <a:latin typeface="Calibri"/>
              </a:rPr>
              <a:t>Not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4251959"/>
            <a:ext cx="61630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Better coverage per draw, but with five inputs and 10,000 draws plain Monte Carlo has already converged.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910327"/>
            <a:ext cx="25968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Bootstrap resampling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4910327"/>
            <a:ext cx="140817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4444"/>
                </a:solidFill>
                <a:latin typeface="Calibri"/>
              </a:rPr>
              <a:t>Impossible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4910327"/>
            <a:ext cx="61630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Resamples observed data — and there is no observed student data to resample yet.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13831"/>
            <a:ext cx="10607040" cy="658368"/>
          </a:xfrm>
          <a:prstGeom prst="roundRect">
            <a:avLst>
              <a:gd name="adj" fmla="val 4500"/>
            </a:avLst>
          </a:prstGeom>
          <a:solidFill>
            <a:srgbClr val="14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568695"/>
            <a:ext cx="25968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Bayesian posterior (MCMC)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0168" y="5568695"/>
            <a:ext cx="140817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AA6B0"/>
                </a:solidFill>
                <a:latin typeface="Calibri"/>
              </a:rPr>
              <a:t>Overkill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648" y="5568695"/>
            <a:ext cx="61630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Needs defensible priors on every factor, and adds little to a variance we can compute exactly.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00B0C8"/>
                </a:solidFill>
                <a:latin typeface="Calibri"/>
              </a:rPr>
              <a:t>Inside the responsive region the algebra alone is enough. What earns Monte Carlo its place is the boundary.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4 · THE QUESTION FROM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Same name. Opposite purpose.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07040" cy="868680"/>
          </a:xfrm>
          <a:prstGeom prst="roundRect">
            <a:avLst>
              <a:gd name="adj" fmla="val 4500"/>
            </a:avLst>
          </a:prstGeom>
          <a:solidFill>
            <a:srgbClr val="0B2B33"/>
          </a:solidFill>
          <a:ln w="19050">
            <a:solidFill>
              <a:srgbClr val="00B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54864" cy="868680"/>
          </a:xfrm>
          <a:prstGeom prst="rect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837943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B0C8"/>
                </a:solidFill>
                <a:latin typeface="Calibri"/>
              </a:rPr>
              <a:t>TEACHER'S QUESTION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121408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1">
                <a:solidFill>
                  <a:srgbClr val="FFFFFF"/>
                </a:solidFill>
                <a:latin typeface="Calibri"/>
              </a:rPr>
              <a:t>Is this the same Monte Carlo as in DAA?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5230368" cy="265176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5230368" cy="45720"/>
          </a:xfrm>
          <a:prstGeom prst="rect">
            <a:avLst/>
          </a:prstGeom>
          <a:solidFill>
            <a:srgbClr val="AE9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AE97A0"/>
                </a:solidFill>
                <a:latin typeface="Calibri"/>
              </a:rPr>
              <a:t>In algorithms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4709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9AA6B0"/>
                </a:solidFill>
                <a:latin typeface="Calibri"/>
              </a:rPr>
              <a:t>The problem is deterministic. Whether 561 is prime is a fixed fact; Miller–Rabin flips coins only to reach it faster than trial division.</a:t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9AA6B0"/>
                </a:solidFill>
                <a:latin typeface="Calibri"/>
              </a:rPr>
              <a:t>The randomness lives in the method — never in the problem.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880360"/>
            <a:ext cx="5230368" cy="265176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3912" y="2880360"/>
            <a:ext cx="5230368" cy="45720"/>
          </a:xfrm>
          <a:prstGeom prst="rect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0B0C8"/>
                </a:solidFill>
                <a:latin typeface="Calibri"/>
              </a:rPr>
              <a:t>In this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611880"/>
            <a:ext cx="4709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 randomness IS the problem. The grid factor genuinely differs year to year — a fact about the physical world.</a:t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We are not approximating something computable; we are describing a spread that exists.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C000"/>
                </a:solidFill>
                <a:latin typeface="Calibri"/>
              </a:rPr>
              <a:t>They share a name and a random number generator, and nothing else.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4 · HOW PRECISE IS ONE SCORE?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Two methods, one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 i="0">
                <a:solidFill>
                  <a:srgbClr val="00B0C8"/>
                </a:solidFill>
                <a:latin typeface="Calibri"/>
              </a:rPr>
              <a:t>±5.92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ANALYTICAL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variance propagation, exact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92024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 i="0">
                <a:solidFill>
                  <a:srgbClr val="00B0C8"/>
                </a:solidFill>
                <a:latin typeface="Calibri"/>
              </a:rPr>
              <a:t>±5.99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57860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MONTE CARLO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10,000 simulated worlds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92024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 i="0">
                <a:solidFill>
                  <a:srgbClr val="70AD47"/>
                </a:solidFill>
                <a:latin typeface="Calibri"/>
              </a:rPr>
              <a:t>1.29%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57860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DIFFERENCE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between the two methods</a:t>
            </a:r>
          </a:p>
        </p:txBody>
      </p:sp>
      <p:pic>
        <p:nvPicPr>
          <p:cNvPr id="11" name="Picture 10" descr="05_uncertainty_analytical_vs_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73190"/>
            <a:ext cx="6766559" cy="245481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63840" y="3566160"/>
            <a:ext cx="3520440" cy="2377440"/>
          </a:xfrm>
          <a:prstGeom prst="roundRect">
            <a:avLst>
              <a:gd name="adj" fmla="val 4500"/>
            </a:avLst>
          </a:prstGeom>
          <a:solidFill>
            <a:srgbClr val="2A0F0F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840480"/>
            <a:ext cx="30175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reported score of 41 is really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somewhere in 29 – 53.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Two students less than ~12 points apart cannot honestly be ranked.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4 · WHERE THE ALGEBRA STOPS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 score of 7 that displays as 0 in 19.6% of worlds</a:t>
            </a:r>
          </a:p>
        </p:txBody>
      </p:sp>
      <p:pic>
        <p:nvPicPr>
          <p:cNvPr id="5" name="Picture 4" descr="07_near_boundary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05576"/>
            <a:ext cx="6949440" cy="25211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874519"/>
            <a:ext cx="34747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9AA6B0"/>
                </a:solidFill>
                <a:latin typeface="Calibri"/>
              </a:rPr>
              <a:t>A student at 2.817 kg CO₂/day sits just below the floor.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9AA6B0"/>
                </a:solidFill>
                <a:latin typeface="Calibri"/>
              </a:rPr>
              <a:t>The clamp is not linear, so the variance formula stops describing what the app shows: part of the distribution is squashed onto the boundary. The mean shifts, the shape turns asymmetric, and a spike appears at exactly zero.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9AA6B0"/>
                </a:solidFill>
                <a:latin typeface="Calibri"/>
              </a:rPr>
              <a:t>No closed form tells you that. This is what simulation was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5257800"/>
            <a:ext cx="3474720" cy="914400"/>
          </a:xfrm>
          <a:prstGeom prst="roundRect">
            <a:avLst>
              <a:gd name="adj" fmla="val 4500"/>
            </a:avLst>
          </a:prstGeom>
          <a:solidFill>
            <a:srgbClr val="2A0F0F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54406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19.6% of plausible</a:t>
            </a:r>
          </a:p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worlds report 0, not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6 · BUILDING A 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10,000 students, because there were none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07040" cy="868680"/>
          </a:xfrm>
          <a:prstGeom prst="roundRect">
            <a:avLst>
              <a:gd name="adj" fmla="val 4500"/>
            </a:avLst>
          </a:prstGeom>
          <a:solidFill>
            <a:srgbClr val="0B2B33"/>
          </a:solidFill>
          <a:ln w="19050">
            <a:solidFill>
              <a:srgbClr val="00B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54864" cy="868680"/>
          </a:xfrm>
          <a:prstGeom prst="rect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837943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B0C8"/>
                </a:solidFill>
                <a:latin typeface="Calibri"/>
              </a:rPr>
              <a:t>TEACHER'S QUESTION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121408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1">
                <a:solidFill>
                  <a:srgbClr val="FFFFFF"/>
                </a:solidFill>
                <a:latin typeface="Calibri"/>
              </a:rPr>
              <a:t>Why 10,000 synthetic students? What happened to the old data?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There is no old data. No structured student survey had been collected — there is no dataset I chose not to use. That is a real limitation, and it decides exactly what this chapter can prove.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9AA6B0"/>
                </a:solidFill>
                <a:latin typeface="Calibri"/>
              </a:rPr>
              <a:t>Synthetic is not fake: every distribution is sourced, and all of them were fixed BEFORE any score was computed — so nothing could be tuned to produce a flattering answer. Seed 42, fully reproducible.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2889504"/>
            <a:ext cx="15910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9AA6B0"/>
                </a:solidFill>
                <a:latin typeface="Calibri"/>
              </a:rPr>
              <a:t>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889504"/>
            <a:ext cx="332841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9AA6B0"/>
                </a:solidFill>
                <a:latin typeface="Calibri"/>
              </a:rPr>
              <a:t>DISTRIBUTION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218688"/>
            <a:ext cx="5212080" cy="16459"/>
          </a:xfrm>
          <a:prstGeom prst="rect">
            <a:avLst/>
          </a:prstGeom>
          <a:solidFill>
            <a:srgbClr val="2A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3291840"/>
            <a:ext cx="15910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Transport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3291840"/>
            <a:ext cx="332841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bus 0.4 · motorbike 0.25 · walk 0.2 · cycle 0.1 · car 0.05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39312"/>
            <a:ext cx="5212080" cy="402336"/>
          </a:xfrm>
          <a:prstGeom prst="roundRect">
            <a:avLst>
              <a:gd name="adj" fmla="val 4500"/>
            </a:avLst>
          </a:prstGeom>
          <a:solidFill>
            <a:srgbClr val="14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3694176"/>
            <a:ext cx="15910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Commute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3694176"/>
            <a:ext cx="332841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log-normal, mean 3.0 km, σ=0.8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4096511"/>
            <a:ext cx="15910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Electricity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4096511"/>
            <a:ext cx="332841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Normal(90.0, 35.0) kWh/month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443984"/>
            <a:ext cx="5212080" cy="402336"/>
          </a:xfrm>
          <a:prstGeom prst="roundRect">
            <a:avLst>
              <a:gd name="adj" fmla="val 4500"/>
            </a:avLst>
          </a:prstGeom>
          <a:solidFill>
            <a:srgbClr val="14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4498848"/>
            <a:ext cx="15910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Rooftop solar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4498848"/>
            <a:ext cx="332841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Bernoulli(0.05)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4901184"/>
            <a:ext cx="15910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LPG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4901184"/>
            <a:ext cx="332841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Normal(1.2, 0.4) cylinders/month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248656"/>
            <a:ext cx="5212080" cy="402336"/>
          </a:xfrm>
          <a:prstGeom prst="roundRect">
            <a:avLst>
              <a:gd name="adj" fmla="val 4500"/>
            </a:avLst>
          </a:prstGeom>
          <a:solidFill>
            <a:srgbClr val="14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5303520"/>
            <a:ext cx="15910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Waste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5303520"/>
            <a:ext cx="332841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[0.3, 0.6, 1.2] kg/day, p=[0.3, 0.5, 0.2]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5705856"/>
            <a:ext cx="15910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Stationery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5705856"/>
            <a:ext cx="332841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Normal(200.0, 80.0) NPR/month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FF4444"/>
                </a:solidFill>
                <a:latin typeface="Calibri"/>
              </a:rPr>
              <a:t>CHAPTER 7 · WHAT THE POPULATION REVEALED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9.19% of a school is silenced</a:t>
            </a:r>
          </a:p>
        </p:txBody>
      </p:sp>
      <p:pic>
        <p:nvPicPr>
          <p:cNvPr id="5" name="Picture 4" descr="11_saturation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61" y="1737360"/>
            <a:ext cx="6226956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828800"/>
            <a:ext cx="3474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4444"/>
                </a:solidFill>
                <a:latin typeface="Calibri"/>
              </a:rPr>
              <a:t>9.19%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487168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score exactly 0 — and their gradient is exactly zero in all five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3291840"/>
            <a:ext cx="3474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D7D31"/>
                </a:solidFill>
                <a:latin typeface="Calibri"/>
              </a:rPr>
              <a:t>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950208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reach 100 — not one student in ten thousand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526280"/>
            <a:ext cx="3474720" cy="1371600"/>
          </a:xfrm>
          <a:prstGeom prst="roundRect">
            <a:avLst>
              <a:gd name="adj" fmla="val 4500"/>
            </a:avLst>
          </a:prstGeom>
          <a:solidFill>
            <a:srgbClr val="2A0F0F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470916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Their real footprints run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2.99 → 8.91 kg CO₂/day.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 3× difference, one number.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7 · COMPARATIVE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Before and after this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07040" cy="868680"/>
          </a:xfrm>
          <a:prstGeom prst="roundRect">
            <a:avLst>
              <a:gd name="adj" fmla="val 4500"/>
            </a:avLst>
          </a:prstGeom>
          <a:solidFill>
            <a:srgbClr val="0B2B33"/>
          </a:solidFill>
          <a:ln w="19050">
            <a:solidFill>
              <a:srgbClr val="00B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54864" cy="868680"/>
          </a:xfrm>
          <a:prstGeom prst="rect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837943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B0C8"/>
                </a:solidFill>
                <a:latin typeface="Calibri"/>
              </a:rPr>
              <a:t>TEACHER'S QUESTION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121408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1">
                <a:solidFill>
                  <a:srgbClr val="FFFFFF"/>
                </a:solidFill>
                <a:latin typeface="Calibri"/>
              </a:rPr>
              <a:t>Comparative results — before vs after our research?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89504"/>
            <a:ext cx="30540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AA6B0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2889504"/>
            <a:ext cx="314553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AA6B0"/>
                </a:solidFill>
                <a:latin typeface="Calibri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9207" y="2889504"/>
            <a:ext cx="3968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AA6B0"/>
                </a:solidFill>
                <a:latin typeface="Calibri"/>
              </a:rPr>
              <a:t>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91840"/>
            <a:ext cx="10607040" cy="16459"/>
          </a:xfrm>
          <a:prstGeom prst="rect">
            <a:avLst/>
          </a:prstGeom>
          <a:solidFill>
            <a:srgbClr val="2A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364992"/>
            <a:ext cx="30540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Emission factors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3364992"/>
            <a:ext cx="314553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assumed exact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7" y="3364992"/>
            <a:ext cx="3968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random variables with quantified spread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85616"/>
            <a:ext cx="10607040" cy="475488"/>
          </a:xfrm>
          <a:prstGeom prst="roundRect">
            <a:avLst>
              <a:gd name="adj" fmla="val 4500"/>
            </a:avLst>
          </a:prstGeom>
          <a:solidFill>
            <a:srgbClr val="14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840480"/>
            <a:ext cx="30540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Score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3840480"/>
            <a:ext cx="314553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unknown — no error 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7" y="3840480"/>
            <a:ext cx="3968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±5.92 points (1σ), confirmed two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15968"/>
            <a:ext cx="30540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Which habits matter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7368" y="4315968"/>
            <a:ext cx="314553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five questions, implicitly equal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7" y="4315968"/>
            <a:ext cx="3968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ranked — 62× spread first to last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736592"/>
            <a:ext cx="10607040" cy="475488"/>
          </a:xfrm>
          <a:prstGeom prst="roundRect">
            <a:avLst>
              <a:gd name="adj" fmla="val 4500"/>
            </a:avLst>
          </a:prstGeom>
          <a:solidFill>
            <a:srgbClr val="14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791455"/>
            <a:ext cx="30540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Behaviour across a school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4791455"/>
            <a:ext cx="314553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never tested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7" y="4791455"/>
            <a:ext cx="3968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tested on 10,000 students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266943"/>
            <a:ext cx="30540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Students given no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7368" y="5266943"/>
            <a:ext cx="314553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unknown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207" y="5266943"/>
            <a:ext cx="3968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4444"/>
                </a:solidFill>
                <a:latin typeface="Calibri"/>
              </a:rPr>
              <a:t>9.19% scoring exactly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687567"/>
            <a:ext cx="10607040" cy="475488"/>
          </a:xfrm>
          <a:prstGeom prst="roundRect">
            <a:avLst>
              <a:gd name="adj" fmla="val 4500"/>
            </a:avLst>
          </a:prstGeom>
          <a:solidFill>
            <a:srgbClr val="14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5742431"/>
            <a:ext cx="30540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Diagnosis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87368" y="5742431"/>
            <a:ext cx="314553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7" y="5742431"/>
            <a:ext cx="39684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70AD47"/>
                </a:solidFill>
                <a:latin typeface="Calibri"/>
              </a:rPr>
              <a:t>formula sound; the clamp is the fault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7 · WHOSE FAULT IS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formula is not broken. The clamp 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657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ED7D31"/>
                </a:solidFill>
                <a:latin typeface="Calibri"/>
              </a:rPr>
              <a:t>0.8639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R² ACROSS ALL 10,000 STUDENTS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the score misses ~14% of what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920240"/>
            <a:ext cx="3657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70AD47"/>
                </a:solidFill>
                <a:latin typeface="Calibri"/>
              </a:rPr>
              <a:t>0.9997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57860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R² WITH THE FLOORED STUDENTS REMOVED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99.97% of the variation explained</a:t>
            </a:r>
          </a:p>
        </p:txBody>
      </p:sp>
      <p:pic>
        <p:nvPicPr>
          <p:cNvPr id="9" name="Picture 8" descr="10_regression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140" y="3657600"/>
            <a:ext cx="6280599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0" y="2011680"/>
            <a:ext cx="2651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3000"/>
              </a:lnSpc>
            </a:pPr>
            <a:r>
              <a:rPr sz="1350" b="0" i="0">
                <a:solidFill>
                  <a:srgbClr val="9AA6B0"/>
                </a:solidFill>
                <a:latin typeface="Calibri"/>
              </a:rPr>
              <a:t>The missing 0.03% is not model error either — it is exactly the variance of rounding the score to a whole number for display.</a:t>
            </a:r>
          </a:p>
          <a:p>
            <a:pPr algn="l">
              <a:lnSpc>
                <a:spcPct val="133000"/>
              </a:lnSpc>
            </a:pPr>
            <a:r>
              <a:rPr sz="135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3000"/>
              </a:lnSpc>
            </a:pPr>
            <a:r>
              <a:rPr sz="1350" b="0" i="0">
                <a:solidFill>
                  <a:srgbClr val="9AA6B0"/>
                </a:solidFill>
                <a:latin typeface="Calibri"/>
              </a:rPr>
              <a:t>There is nothing left to improve in the arithmetic.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4480560"/>
            <a:ext cx="2651760" cy="1463040"/>
          </a:xfrm>
          <a:prstGeom prst="roundRect">
            <a:avLst>
              <a:gd name="adj" fmla="val 4500"/>
            </a:avLst>
          </a:prstGeom>
          <a:solidFill>
            <a:srgbClr val="122414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470916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Household baseline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2.048 kg/day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is already 82% of the way to the floor.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70AD47"/>
                </a:solidFill>
                <a:latin typeface="Calibri"/>
              </a:rPr>
              <a:t>CHAPTER 8 · FIXING THE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Replace the clamp. Change nothing else.</a:t>
            </a:r>
          </a:p>
        </p:txBody>
      </p:sp>
      <p:pic>
        <p:nvPicPr>
          <p:cNvPr id="5" name="Picture 4" descr="12_scoring_functio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47130"/>
            <a:ext cx="6675120" cy="38038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783080"/>
            <a:ext cx="3703320" cy="182880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783080"/>
            <a:ext cx="3703320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01168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D7D31"/>
                </a:solidFill>
                <a:latin typeface="Calibri"/>
              </a:rPr>
              <a:t>Method A — percentile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395728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Boundaries from the population: 1.404 and 3.227 kg/day.</a:t>
            </a:r>
          </a:p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Highest entropy — but still clamps, and now saturates 10.27%.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794760"/>
            <a:ext cx="3703320" cy="2194560"/>
          </a:xfrm>
          <a:prstGeom prst="roundRect">
            <a:avLst>
              <a:gd name="adj" fmla="val 4500"/>
            </a:avLst>
          </a:prstGeom>
          <a:solidFill>
            <a:srgbClr val="122414"/>
          </a:solidFill>
          <a:ln w="2222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40233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0AD47"/>
                </a:solidFill>
                <a:latin typeface="Calibri"/>
              </a:rPr>
              <a:t>Method B — logistic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40740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onsolas"/>
              </a:rPr>
              <a:t>S = 100 / (1 + e^(k(F − F₀)))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98348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k = 1.7202, F₀ = 2.1883 (the population median).</a:t>
            </a:r>
          </a:p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Never goes flat — there is always somewhere left to 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8 ·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Why the logistic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020824"/>
            <a:ext cx="38770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9AA6B0"/>
                </a:solidFill>
                <a:latin typeface="Calibri"/>
              </a:rPr>
              <a:t>CRITERION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0328" y="2020824"/>
            <a:ext cx="19568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9AA6B0"/>
                </a:solidFill>
                <a:latin typeface="Calibri"/>
              </a:rPr>
              <a:t>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3448" y="2020824"/>
            <a:ext cx="213969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9AA6B0"/>
                </a:solidFill>
                <a:latin typeface="Calibri"/>
              </a:rPr>
              <a:t>PERCENTILE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9448" y="2020824"/>
            <a:ext cx="20482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9AA6B0"/>
                </a:solidFill>
                <a:latin typeface="Calibri"/>
              </a:rPr>
              <a:t>LOGISTIC ★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10607040" cy="16459"/>
          </a:xfrm>
          <a:prstGeom prst="rect">
            <a:avLst/>
          </a:prstGeom>
          <a:solidFill>
            <a:srgbClr val="2A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587752"/>
            <a:ext cx="38770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Students given no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0328" y="2587752"/>
            <a:ext cx="19568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9.19%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2587752"/>
            <a:ext cx="213969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10.27%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9448" y="2587752"/>
            <a:ext cx="20482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70AD47"/>
                </a:solidFill>
                <a:latin typeface="Calibri"/>
              </a:rPr>
              <a:t>0.3%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99816"/>
            <a:ext cx="10607040" cy="566928"/>
          </a:xfrm>
          <a:prstGeom prst="roundRect">
            <a:avLst>
              <a:gd name="adj" fmla="val 4500"/>
            </a:avLst>
          </a:prstGeom>
          <a:solidFill>
            <a:srgbClr val="14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154680"/>
            <a:ext cx="38770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Information content (nats, max 2.996)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3154680"/>
            <a:ext cx="19568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2.644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3154680"/>
            <a:ext cx="213969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2.931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3154680"/>
            <a:ext cx="20482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2.765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721607"/>
            <a:ext cx="38770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Preserves the true 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3721607"/>
            <a:ext cx="19568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no — ties at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3721607"/>
            <a:ext cx="213969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no — ties at both 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721607"/>
            <a:ext cx="20482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70AD47"/>
                </a:solidFill>
                <a:latin typeface="Calibri"/>
              </a:rPr>
              <a:t>yes, ρ = 1.000000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33672"/>
            <a:ext cx="10607040" cy="566928"/>
          </a:xfrm>
          <a:prstGeom prst="roundRect">
            <a:avLst>
              <a:gd name="adj" fmla="val 4500"/>
            </a:avLst>
          </a:prstGeom>
          <a:solidFill>
            <a:srgbClr val="14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288536"/>
            <a:ext cx="38770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Agrees where the old score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4288536"/>
            <a:ext cx="19568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4288536"/>
            <a:ext cx="213969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partly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4288536"/>
            <a:ext cx="20482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70AD47"/>
                </a:solidFill>
                <a:latin typeface="Calibri"/>
              </a:rPr>
              <a:t>r = 0.9972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855464"/>
            <a:ext cx="38770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Ever saturates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4855464"/>
            <a:ext cx="19568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4855464"/>
            <a:ext cx="213969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4855464"/>
            <a:ext cx="20482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70AD47"/>
                </a:solidFill>
                <a:latin typeface="Calibri"/>
              </a:rPr>
              <a:t>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349240"/>
            <a:ext cx="10607040" cy="1005840"/>
          </a:xfrm>
          <a:prstGeom prst="roundRect">
            <a:avLst>
              <a:gd name="adj" fmla="val 4500"/>
            </a:avLst>
          </a:prstGeom>
          <a:solidFill>
            <a:srgbClr val="2A220B"/>
          </a:solidFill>
          <a:ln w="190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5321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 trade-off: the logistic scale is population-relative. F₀ is a median, so 50 means "typical for this group". Refit when the population changes — and keep kg CO₂/day on screen.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THE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Everything above, as something you can click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9AA6B0"/>
                </a:solidFill>
                <a:latin typeface="Calibri"/>
              </a:rPr>
              <a:t>A four-page Streamlit app sharing one formula module with the notebook — so the app and the paper can never quote different numbers.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80360"/>
            <a:ext cx="2587752" cy="233172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880360"/>
            <a:ext cx="2587752" cy="45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4472C4"/>
                </a:solidFill>
                <a:latin typeface="Calibri"/>
              </a:rPr>
              <a:t>Calculator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AA6B0"/>
                </a:solidFill>
                <a:latin typeface="Calibri"/>
              </a:rPr>
              <a:t>Score any student three ways at once, with live uncertainty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880360"/>
            <a:ext cx="2587752" cy="233172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2880360"/>
            <a:ext cx="2587752" cy="457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31089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6576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ED7D31"/>
                </a:solidFill>
                <a:latin typeface="Calibri"/>
              </a:rPr>
              <a:t>Research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25196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AA6B0"/>
                </a:solidFill>
                <a:latin typeface="Calibri"/>
              </a:rPr>
              <a:t>The five findings, each with its figure and plain-English reading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880360"/>
            <a:ext cx="2587752" cy="233172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880360"/>
            <a:ext cx="2587752" cy="457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1089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FC000"/>
                </a:solidFill>
                <a:latin typeface="Calibri"/>
              </a:rPr>
              <a:t>Understanding the Math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5196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AA6B0"/>
                </a:solidFill>
                <a:latin typeface="Calibri"/>
              </a:rPr>
              <a:t>Derivatives, Monte Carlo convergence, why the logistic — interactive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2880360"/>
            <a:ext cx="2587752" cy="233172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2880360"/>
            <a:ext cx="2587752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1089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6576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70AD47"/>
                </a:solidFill>
                <a:latin typeface="Calibri"/>
              </a:rPr>
              <a:t>About This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25196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AA6B0"/>
                </a:solidFill>
                <a:latin typeface="Calibri"/>
              </a:rPr>
              <a:t>The story, the limitations, and a class simulator with CSV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00B0C8"/>
                </a:solidFill>
                <a:latin typeface="Calibri"/>
              </a:rPr>
              <a:t>Deployed on Streamlit Community Cloud · rebuilds automatically on every push to main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WEB APP · PAGE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Calculator — one student, three scores</a:t>
            </a:r>
          </a:p>
        </p:txBody>
      </p:sp>
      <p:pic>
        <p:nvPicPr>
          <p:cNvPr id="5" name="Picture 4" descr="crop_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494" y="1691640"/>
            <a:ext cx="612189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1783080"/>
            <a:ext cx="2697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Move any slider and all three scores update at once.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The worked example is the default: bus, 2 km, 90 kWh, 1 cylinder, medium waste, Rs 200 → 1.976 kg CO₂/day.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The breakdown bars use the same five category colours as every figure in the paper.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Below, the three scoring curves with your position marked on each.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FF4444"/>
                </a:solidFill>
                <a:latin typeface="Calibri"/>
              </a:rPr>
              <a:t>WEB APP · THE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Drag the commute from 7 km to 3 km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020824"/>
            <a:ext cx="14996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9AA6B0"/>
                </a:solidFill>
                <a:latin typeface="Calibri"/>
              </a:rPr>
              <a:t>DISTANCE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2888" y="2020824"/>
            <a:ext cx="19568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9AA6B0"/>
                </a:solidFill>
                <a:latin typeface="Calibri"/>
              </a:rPr>
              <a:t>FOOTPRINT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36007" y="2020824"/>
            <a:ext cx="13167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9AA6B0"/>
                </a:solidFill>
                <a:latin typeface="Calibri"/>
              </a:rPr>
              <a:t>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7" y="2020824"/>
            <a:ext cx="14081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9AA6B0"/>
                </a:solidFill>
                <a:latin typeface="Calibri"/>
              </a:rPr>
              <a:t>LOGISTIC ★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6766560" cy="16459"/>
          </a:xfrm>
          <a:prstGeom prst="rect">
            <a:avLst/>
          </a:prstGeom>
          <a:solidFill>
            <a:srgbClr val="2A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587752"/>
            <a:ext cx="14996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7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587752"/>
            <a:ext cx="19568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4.57 kg/day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587752"/>
            <a:ext cx="13167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7" y="2587752"/>
            <a:ext cx="14081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99816"/>
            <a:ext cx="6766560" cy="566928"/>
          </a:xfrm>
          <a:prstGeom prst="roundRect">
            <a:avLst>
              <a:gd name="adj" fmla="val 4500"/>
            </a:avLst>
          </a:prstGeom>
          <a:solidFill>
            <a:srgbClr val="14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154680"/>
            <a:ext cx="14996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6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3154680"/>
            <a:ext cx="19568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4.19 kg/day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3154680"/>
            <a:ext cx="13167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4444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7" y="3154680"/>
            <a:ext cx="14081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721607"/>
            <a:ext cx="14996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5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2888" y="3721607"/>
            <a:ext cx="19568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3.81 kg/day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3721607"/>
            <a:ext cx="13167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4444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7" y="3721607"/>
            <a:ext cx="14081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33672"/>
            <a:ext cx="6766560" cy="566928"/>
          </a:xfrm>
          <a:prstGeom prst="roundRect">
            <a:avLst>
              <a:gd name="adj" fmla="val 4500"/>
            </a:avLst>
          </a:prstGeom>
          <a:solidFill>
            <a:srgbClr val="14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288536"/>
            <a:ext cx="14996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4 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8" y="4288536"/>
            <a:ext cx="19568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3.43 kg/day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4288536"/>
            <a:ext cx="13167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4444"/>
                </a:solidFill>
                <a:latin typeface="Calibr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7" y="4288536"/>
            <a:ext cx="14081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855464"/>
            <a:ext cx="14996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3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32888" y="4855464"/>
            <a:ext cx="19568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3.05 kg/day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7" y="4855464"/>
            <a:ext cx="131673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4444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9047" y="4855464"/>
            <a:ext cx="140817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0AD47"/>
                </a:solidFill>
                <a:latin typeface="Calibri"/>
              </a:rPr>
              <a:t>18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1965960"/>
            <a:ext cx="3520440" cy="2194560"/>
          </a:xfrm>
          <a:prstGeom prst="roundRect">
            <a:avLst>
              <a:gd name="adj" fmla="val 4500"/>
            </a:avLst>
          </a:prstGeom>
          <a:solidFill>
            <a:srgbClr val="2A0F0F"/>
          </a:solidFill>
          <a:ln w="1905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2194560"/>
            <a:ext cx="3063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The student cuts their commute by more than half — a real, hard change — and the original score says nothing, five times in a row.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4343400"/>
            <a:ext cx="3520440" cy="1554480"/>
          </a:xfrm>
          <a:prstGeom prst="roundRect">
            <a:avLst>
              <a:gd name="adj" fmla="val 4500"/>
            </a:avLst>
          </a:prstGeom>
          <a:solidFill>
            <a:srgbClr val="122414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457200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The logistic sees every step: 2 → 3 → 6 → 11 → 18.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That is the whole project, in one slider.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577840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9AA6B0"/>
                </a:solidFill>
                <a:latin typeface="Calibri"/>
              </a:rPr>
              <a:t>Stay inside 7 → 3 km. Beyond ~8 km the logistic also rounds to 0 on the tile; below 2.6 km the original wakes up. This window is where the contrast is visible.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WEB APP · PAGE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Research Findings — the evidence, expandable</a:t>
            </a:r>
          </a:p>
        </p:txBody>
      </p:sp>
      <p:pic>
        <p:nvPicPr>
          <p:cNvPr id="5" name="Picture 4" descr="crop_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910" y="1691640"/>
            <a:ext cx="6015059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1783080"/>
            <a:ext cx="2697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Four headline tiles, then five findings as expandable sections: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1 · cooking and electricity control the score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2 · a 41 could mean 29 to 53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3 · 9.19% of students are silenced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4 · the formula is perfect, the clamp is broken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5 · two better alternatives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Each carries the notebook's own figure, so nothing is redrawn by hand.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WEB APP · PAGE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Understanding the Math — for the reader who asks why</a:t>
            </a:r>
          </a:p>
        </p:txBody>
      </p:sp>
      <p:pic>
        <p:nvPicPr>
          <p:cNvPr id="5" name="Picture 4" descr="crop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910" y="1691640"/>
            <a:ext cx="6015059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1783080"/>
            <a:ext cx="2697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Four expandable explainers: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· where each emission factor comes from, with the LPG and bus derivations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· what a sensitivity analysis is — with a slider that sweeps one habit 0–200%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· what Monte Carlo is, answering the DAA question directly — with a slider showing the estimate converge as N grows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· why the logistic, with the entropy comparison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WEB APP · PAGE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About — the story, the limits, and a class simulator</a:t>
            </a:r>
          </a:p>
        </p:txBody>
      </p:sp>
      <p:pic>
        <p:nvPicPr>
          <p:cNvPr id="5" name="Picture 4" descr="crop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910" y="1691640"/>
            <a:ext cx="6015059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1783080"/>
            <a:ext cx="2697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The project narrative and, deliberately, the limitations.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The class simulator generates any number of students from the same distributions and scores them three ways side by side — mean, spread, % at floor and ceiling — then exports the class as CSV.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A teacher can try their own class size before anyone changes the real app.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9 · WHAT HAPPENS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Five stages before anything reaches a student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07040" cy="868680"/>
          </a:xfrm>
          <a:prstGeom prst="roundRect">
            <a:avLst>
              <a:gd name="adj" fmla="val 4500"/>
            </a:avLst>
          </a:prstGeom>
          <a:solidFill>
            <a:srgbClr val="0B2B33"/>
          </a:solidFill>
          <a:ln w="19050">
            <a:solidFill>
              <a:srgbClr val="00B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54864" cy="868680"/>
          </a:xfrm>
          <a:prstGeom prst="rect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837943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0B0C8"/>
                </a:solidFill>
                <a:latin typeface="Calibri"/>
              </a:rPr>
              <a:t>TEACHER'S QUESTION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121408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1">
                <a:solidFill>
                  <a:srgbClr val="FFFFFF"/>
                </a:solidFill>
                <a:latin typeface="Calibri"/>
              </a:rPr>
              <a:t>What is the full process after generating the data?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834640"/>
            <a:ext cx="402336" cy="402336"/>
          </a:xfrm>
          <a:prstGeom prst="ellipse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F1923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Collect real survey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862072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seven questions, 3 minutes, no PII, English and Nepali — CSV columns already match the generator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93008"/>
            <a:ext cx="402336" cy="402336"/>
          </a:xfrm>
          <a:prstGeom prst="ellipse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F1923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9300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Refit the scale on that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52044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recompute the percentiles, re-fit k and F₀ on the real median · needs ≥100 responses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151376"/>
            <a:ext cx="402336" cy="402336"/>
          </a:xfrm>
          <a:prstGeom prst="ellipse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2452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F1923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51376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Re-validate every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178808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re-run the notebook; the floor percentage will move, the flat region will not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809744"/>
            <a:ext cx="402336" cy="402336"/>
          </a:xfrm>
          <a:prstGeom prst="ellipse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8289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F1923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0974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Change one function in the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837176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edit the scoring function in src/logic.js and nothing else · show kg CO₂/day beside the score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5468112"/>
            <a:ext cx="402336" cy="402336"/>
          </a:xfrm>
          <a:prstGeom prst="ellipse">
            <a:avLst/>
          </a:prstGeom>
          <a:solidFill>
            <a:srgbClr val="00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4126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F1923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4681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Re-audit on a schedule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495544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a population-relative scale drifts · refit annually and repeat the saturation check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9 · SCOPE OF THE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One function moves. Everything else stays.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5230368" cy="3749039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11680"/>
            <a:ext cx="5230368" cy="50292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70AD47"/>
                </a:solidFill>
                <a:latin typeface="Calibri"/>
              </a:rPr>
              <a:t>What stays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935224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2834640"/>
            <a:ext cx="440740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All five emission factors, unchanged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465576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364992"/>
            <a:ext cx="440740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The footprint formula F = Σ θᵢxᵢ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995928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3895344"/>
            <a:ext cx="440740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The five questions students answer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526280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4425696"/>
            <a:ext cx="440740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The daily kg CO₂ figure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505663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4956048"/>
            <a:ext cx="440740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The existing app, UI and game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2011680"/>
            <a:ext cx="5230368" cy="3749039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2011680"/>
            <a:ext cx="5230368" cy="5029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ED7D31"/>
                </a:solidFill>
                <a:latin typeface="Calibri"/>
              </a:rPr>
              <a:t>What changes</a:t>
            </a:r>
          </a:p>
        </p:txBody>
      </p:sp>
      <p:sp>
        <p:nvSpPr>
          <p:cNvPr id="21" name="Oval 20"/>
          <p:cNvSpPr/>
          <p:nvPr/>
        </p:nvSpPr>
        <p:spPr>
          <a:xfrm>
            <a:off x="6473952" y="2935224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9984" y="2834640"/>
            <a:ext cx="440740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One function: kilograms → score</a:t>
            </a:r>
          </a:p>
        </p:txBody>
      </p:sp>
      <p:sp>
        <p:nvSpPr>
          <p:cNvPr id="23" name="Oval 22"/>
          <p:cNvSpPr/>
          <p:nvPr/>
        </p:nvSpPr>
        <p:spPr>
          <a:xfrm>
            <a:off x="6473952" y="3465576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9984" y="3364992"/>
            <a:ext cx="440740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Advice ordered by real sensitivity</a:t>
            </a:r>
          </a:p>
        </p:txBody>
      </p:sp>
      <p:sp>
        <p:nvSpPr>
          <p:cNvPr id="25" name="Oval 24"/>
          <p:cNvSpPr/>
          <p:nvPr/>
        </p:nvSpPr>
        <p:spPr>
          <a:xfrm>
            <a:off x="6473952" y="3995928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9984" y="3895344"/>
            <a:ext cx="440740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Scores shown with their uncertainty</a:t>
            </a:r>
          </a:p>
        </p:txBody>
      </p:sp>
      <p:sp>
        <p:nvSpPr>
          <p:cNvPr id="27" name="Oval 26"/>
          <p:cNvSpPr/>
          <p:nvPr/>
        </p:nvSpPr>
        <p:spPr>
          <a:xfrm>
            <a:off x="6473952" y="4526280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9984" y="4425696"/>
            <a:ext cx="440740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A score that never stops responding</a:t>
            </a:r>
          </a:p>
        </p:txBody>
      </p:sp>
      <p:sp>
        <p:nvSpPr>
          <p:cNvPr id="29" name="Oval 28"/>
          <p:cNvSpPr/>
          <p:nvPr/>
        </p:nvSpPr>
        <p:spPr>
          <a:xfrm>
            <a:off x="6473952" y="505663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9984" y="4956048"/>
            <a:ext cx="440740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Constants refitted as data arrives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00B0C8"/>
                </a:solidFill>
                <a:latin typeface="Calibri"/>
              </a:rPr>
              <a:t>CHAPTER 10 · THREE QUESTIONS, THREE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What this research was, in three branches of maths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401568" cy="393192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3401568" cy="5029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472C4"/>
                </a:solidFill>
                <a:latin typeface="Calibri"/>
              </a:rPr>
              <a:t>Mathematical Modelling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FFFFFF"/>
                </a:solidFill>
                <a:latin typeface="Calibri"/>
              </a:rPr>
              <a:t>What IS the model?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20440"/>
            <a:ext cx="2880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A linear weighted sum, then a clamped affine map. Linearity makes the derivatives constant and the variance exact; the clamp makes the derivative vanish. Every finding follows from those two 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965960"/>
            <a:ext cx="3401568" cy="393192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1965960"/>
            <a:ext cx="3401568" cy="5029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2240280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C000"/>
                </a:solidFill>
                <a:latin typeface="Calibri"/>
              </a:rPr>
              <a:t>Sensitivity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017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FFFFFF"/>
                </a:solidFill>
                <a:latin typeface="Calibri"/>
              </a:rPr>
              <a:t>Which inputs matter?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520440"/>
            <a:ext cx="2880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Partial derivatives as a +10% change. Cooking -2.859 and electricity -2.76 dominate; stationery -0.046 is 62× weaker. In the clamped regions all five are exactly zero.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2712" y="1965960"/>
            <a:ext cx="3401568" cy="393192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82712" y="1965960"/>
            <a:ext cx="3401568" cy="50292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2240280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0AD47"/>
                </a:solidFill>
                <a:latin typeface="Calibri"/>
              </a:rPr>
              <a:t>Statistical 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30175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FFFFFF"/>
                </a:solidFill>
                <a:latin typeface="Calibri"/>
              </a:rPr>
              <a:t>Is the output trustworthy?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3520440"/>
            <a:ext cx="2880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9AA6B0"/>
                </a:solidFill>
                <a:latin typeface="Calibri"/>
              </a:rPr>
              <a:t>±5.92 points of uncertainty, confirmed to 1.29% by simulation. The mapping saturates 9.19% of a school; the logistic reduces that to 0.3% while preserving the ranking exactly.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160">
                <a:solidFill>
                  <a:srgbClr val="AE97A0"/>
                </a:solidFill>
                <a:latin typeface="Calibri"/>
              </a:rPr>
              <a:t>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What I am not claiming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10607040" cy="128016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45720" cy="1280160"/>
          </a:xfrm>
          <a:prstGeom prst="rect">
            <a:avLst/>
          </a:prstGeom>
          <a:solidFill>
            <a:srgbClr val="AE9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AE97A0"/>
                </a:solidFill>
                <a:latin typeface="Calibri"/>
              </a:rPr>
              <a:t>The population is simulated, not surveyed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9.19% is what these factors produce on a plausible school — not a measured fact about a real one. What is robust is structural: a scoring function with a zero gradient over a region where real students live.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10712"/>
            <a:ext cx="10607040" cy="128016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410712"/>
            <a:ext cx="45720" cy="12801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593592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ED7D31"/>
                </a:solidFill>
                <a:latin typeface="Calibri"/>
              </a:rPr>
              <a:t>The logistic scale is population-relative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05072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50 means "typical for this group", not a fixed number of kilograms. It must be refitted when the population changes, and two schools cannot compare scores unless k and F₀ are pinned.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55464"/>
            <a:ext cx="10607040" cy="1280160"/>
          </a:xfrm>
          <a:prstGeom prst="roundRect">
            <a:avLst>
              <a:gd name="adj" fmla="val 4500"/>
            </a:avLst>
          </a:prstGeom>
          <a:solidFill>
            <a:srgbClr val="18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855464"/>
            <a:ext cx="45720" cy="128016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038344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4472C4"/>
                </a:solidFill>
                <a:latin typeface="Calibri"/>
              </a:rPr>
              <a:t>The emission factors are assumed independent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449824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They probably are not. Positive correlation would make the true uncertainty LARGER than ±5.92 points — so that figure is a lower bound, not a final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00B0C8"/>
                </a:solidFill>
                <a:latin typeface="Calibri"/>
              </a:rPr>
              <a:t>Every limitation named here is a question the examiner cannot ask.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B0C8"/>
                </a:solidFill>
                <a:latin typeface="Calibri"/>
              </a:rPr>
              <a:t>MAIN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The formula was always correct.</a:t>
            </a:r>
          </a:p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The boundaries were always the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343400"/>
            <a:ext cx="1463040" cy="274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Harit Pathsala — Eco-Score research  ·  Jayed Alam Mansur  ·  Kathmandu University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10,000 simulated students, seed 42  ·  10,000 Monte Carlo draws  ·  14 figures at 300 DPI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9AA6B0"/>
                </a:solidFill>
                <a:latin typeface="Calibri"/>
              </a:rPr>
              <a:t>Every number generated by eco_score_research.ipynb and read from key_results.json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